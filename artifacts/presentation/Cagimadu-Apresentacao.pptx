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GIMADU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65992" cy="0"/>
          </a:xfrm>
          <a:prstGeom prst="line">
            <a:avLst/>
          </a:prstGeom>
          <a:noFill/>
          <a:ln w="8890">
            <a:solidFill>
              <a:srgbClr val="DEDB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spc="120" kern="0" dirty="0">
                <a:solidFill>
                  <a:srgbClr val="8A8494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CAGIMADU  /  ETHEREUM FEE INTELLIGENCE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0"/>
            <a:ext cx="4647895" cy="6858000"/>
          </a:xfrm>
          <a:prstGeom prst="rect">
            <a:avLst/>
          </a:prstGeom>
          <a:solidFill>
            <a:srgbClr val="0E0B14"/>
          </a:solidFill>
          <a:ln w="12700">
            <a:solidFill>
              <a:srgbClr val="0E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02168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0536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18904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77272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94008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52376" y="0"/>
            <a:ext cx="0" cy="685800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0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658368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316736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975104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2633472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3291840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3950208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608576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5266944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5925312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6583680"/>
            <a:ext cx="4647895" cy="0"/>
          </a:xfrm>
          <a:prstGeom prst="line">
            <a:avLst/>
          </a:prstGeom>
          <a:noFill/>
          <a:ln w="6350">
            <a:solidFill>
              <a:srgbClr val="211A2C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80000">
            <a:off x="594360" y="566928"/>
            <a:ext cx="142646" cy="142646"/>
          </a:xfrm>
          <a:prstGeom prst="rect">
            <a:avLst/>
          </a:prstGeom>
          <a:solidFill>
            <a:srgbClr val="A87EFF"/>
          </a:solidFill>
          <a:ln w="12700">
            <a:solidFill>
              <a:srgbClr val="A87E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4438" y="566928"/>
            <a:ext cx="142646" cy="142646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20000">
            <a:off x="764438" y="737006"/>
            <a:ext cx="142646" cy="142646"/>
          </a:xfrm>
          <a:prstGeom prst="rect">
            <a:avLst/>
          </a:prstGeom>
          <a:solidFill>
            <a:srgbClr val="A87EFF">
              <a:alpha val="92000"/>
            </a:srgbClr>
          </a:solidFill>
          <a:ln w="12700">
            <a:solidFill>
              <a:srgbClr val="A87E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299" y="5623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cagimadu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328062" y="557784"/>
            <a:ext cx="1755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7B3FF2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.</a:t>
            </a:r>
            <a:endParaRPr lang="en-US" sz="1920" dirty="0"/>
          </a:p>
        </p:txBody>
      </p:sp>
      <p:sp>
        <p:nvSpPr>
          <p:cNvPr id="27" name="Text 25"/>
          <p:cNvSpPr/>
          <p:nvPr/>
        </p:nvSpPr>
        <p:spPr>
          <a:xfrm>
            <a:off x="621792" y="1481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7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ETHEREUM FEE INTELLIGENCE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" y="187452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Do dado on-chain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à decisão operacional.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21792" y="3611880"/>
            <a:ext cx="6172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Monitoramento em tempo real de custos de taxa na Ethereum — um MVP construído para transformar telemetria bruta em ação.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1792" y="47091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E6F7F2"/>
          </a:solidFill>
          <a:ln w="12700">
            <a:solidFill>
              <a:srgbClr val="E6F7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476859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MVP VALIDADO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148840" y="4709160"/>
            <a:ext cx="1627632" cy="256032"/>
          </a:xfrm>
          <a:prstGeom prst="roundRect">
            <a:avLst>
              <a:gd name="adj" fmla="val 28571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1992" y="47685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ETHEREUM MAINNET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3931920" y="4709160"/>
            <a:ext cx="621792" cy="256032"/>
          </a:xfrm>
          <a:prstGeom prst="roundRect">
            <a:avLst>
              <a:gd name="adj" fmla="val 28571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47685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MIT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621792" y="596188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909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Equipe Cagimadu  •  Inteli Blockchain  •  Parceiro Alphractal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" y="62819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 SET 2026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9838944" y="3273552"/>
            <a:ext cx="0" cy="-1225296"/>
          </a:xfrm>
          <a:prstGeom prst="line">
            <a:avLst/>
          </a:prstGeom>
          <a:noFill/>
          <a:ln w="15240">
            <a:solidFill>
              <a:srgbClr val="00A47A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74936" y="1984248"/>
            <a:ext cx="128016" cy="128016"/>
          </a:xfrm>
          <a:prstGeom prst="ellipse">
            <a:avLst/>
          </a:prstGeom>
          <a:solidFill>
            <a:srgbClr val="00A47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16200000">
              <a:srgbClr val="00A47A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838944" y="3273552"/>
            <a:ext cx="-1143000" cy="-384048"/>
          </a:xfrm>
          <a:prstGeom prst="line">
            <a:avLst/>
          </a:prstGeom>
          <a:noFill/>
          <a:ln w="15240">
            <a:solidFill>
              <a:srgbClr val="A87EFF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31936" y="2825496"/>
            <a:ext cx="128016" cy="12801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16200000">
              <a:srgbClr val="A87EFF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38944" y="3273552"/>
            <a:ext cx="1078992" cy="-566928"/>
          </a:xfrm>
          <a:prstGeom prst="line">
            <a:avLst/>
          </a:prstGeom>
          <a:noFill/>
          <a:ln w="15240">
            <a:solidFill>
              <a:srgbClr val="00A47A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53928" y="2642616"/>
            <a:ext cx="128016" cy="128016"/>
          </a:xfrm>
          <a:prstGeom prst="ellipse">
            <a:avLst/>
          </a:prstGeom>
          <a:solidFill>
            <a:srgbClr val="00A47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16200000">
              <a:srgbClr val="00A47A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838944" y="3273552"/>
            <a:ext cx="-1389888" cy="914400"/>
          </a:xfrm>
          <a:prstGeom prst="line">
            <a:avLst/>
          </a:prstGeom>
          <a:noFill/>
          <a:ln w="15240">
            <a:solidFill>
              <a:srgbClr val="A87EFF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85048" y="4123944"/>
            <a:ext cx="128016" cy="12801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16200000">
              <a:srgbClr val="A87EFF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838944" y="3273552"/>
            <a:ext cx="1353312" cy="777240"/>
          </a:xfrm>
          <a:prstGeom prst="line">
            <a:avLst/>
          </a:prstGeom>
          <a:noFill/>
          <a:ln w="15240">
            <a:solidFill>
              <a:srgbClr val="00A47A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28248" y="3986784"/>
            <a:ext cx="128016" cy="128016"/>
          </a:xfrm>
          <a:prstGeom prst="ellipse">
            <a:avLst/>
          </a:prstGeom>
          <a:solidFill>
            <a:srgbClr val="00A47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16200000">
              <a:srgbClr val="00A47A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838944" y="3273552"/>
            <a:ext cx="137160" cy="1417320"/>
          </a:xfrm>
          <a:prstGeom prst="line">
            <a:avLst/>
          </a:prstGeom>
          <a:noFill/>
          <a:ln w="15240">
            <a:solidFill>
              <a:srgbClr val="A87EFF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12096" y="4626864"/>
            <a:ext cx="128016" cy="12801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16200000">
              <a:srgbClr val="A87EFF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144000" y="2651760"/>
            <a:ext cx="1389888" cy="1243584"/>
          </a:xfrm>
          <a:prstGeom prst="hexagon">
            <a:avLst/>
          </a:prstGeom>
          <a:solidFill>
            <a:srgbClr val="7B3FF2">
              <a:alpha val="94000"/>
            </a:srgbClr>
          </a:solidFill>
          <a:ln w="15240">
            <a:solidFill>
              <a:srgbClr val="A87E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5400000">
            <a:off x="9582912" y="2944368"/>
            <a:ext cx="512064" cy="658368"/>
          </a:xfrm>
          <a:prstGeom prst="chevron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25128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8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LIVE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778240" y="55321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9E91B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MAINNET  /  ~12s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VISÃO EXECUTIVA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 TESE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usuário não precisa de mais um dado.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Precisa saber o que fazer agora.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Cagimadu converte o estado bruto da rede Ethereum em uma leitura operacional: custo, pressão e momento de execução.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12648" y="2798064"/>
            <a:ext cx="3108960" cy="0"/>
          </a:xfrm>
          <a:prstGeom prst="line">
            <a:avLst/>
          </a:prstGeom>
          <a:noFill/>
          <a:ln w="10160">
            <a:solidFill>
              <a:srgbClr val="DCD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Observar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312724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Blocos, base fee, priority fee e ocupação chegam da Mainnet em ciclos próximos ao tempo de bloco.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0" y="3273552"/>
            <a:ext cx="521208" cy="0"/>
          </a:xfrm>
          <a:prstGeom prst="line">
            <a:avLst/>
          </a:prstGeom>
          <a:noFill/>
          <a:ln w="19050">
            <a:solidFill>
              <a:srgbClr val="DCD8E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26280" y="24871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44568" y="2798064"/>
            <a:ext cx="3108960" cy="0"/>
          </a:xfrm>
          <a:prstGeom prst="line">
            <a:avLst/>
          </a:prstGeom>
          <a:noFill/>
          <a:ln w="10160">
            <a:solidFill>
              <a:srgbClr val="DCD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926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Traduzir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383280"/>
            <a:ext cx="312724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API normaliza os dados, calcula a fee recomendada e classifica a pressão da rede.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3273552"/>
            <a:ext cx="521208" cy="0"/>
          </a:xfrm>
          <a:prstGeom prst="line">
            <a:avLst/>
          </a:prstGeom>
          <a:noFill/>
          <a:ln w="19050">
            <a:solidFill>
              <a:srgbClr val="DCD8E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458200" y="24871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476488" y="2798064"/>
            <a:ext cx="3108960" cy="0"/>
          </a:xfrm>
          <a:prstGeom prst="line">
            <a:avLst/>
          </a:prstGeom>
          <a:noFill/>
          <a:ln w="10160">
            <a:solidFill>
              <a:srgbClr val="DCD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926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Decidir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58200" y="3383280"/>
            <a:ext cx="312724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painel estima o custo por operação e dá contexto para executar, aguardar ou monitorar.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983480"/>
            <a:ext cx="10991088" cy="932688"/>
          </a:xfrm>
          <a:prstGeom prst="roundRect">
            <a:avLst>
              <a:gd name="adj" fmla="val 7843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MÉTRICA NORTEADORA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743200" y="5138928"/>
            <a:ext cx="6035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decisões operacionais tomadas com confiança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06256" y="52303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DB4C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não apenas visualizações consumidas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NEGÓCIO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 PROBLEMA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Médias históricas descrevem o passado.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execução acontece no próximo bloco.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EIP-1559 reprecifica a base fee bloco a bloco; a janela operacional muda em segundos, enquanto o custo do erro é assimétrico.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255264"/>
            <a:ext cx="10652760" cy="0"/>
          </a:xfrm>
          <a:prstGeom prst="line">
            <a:avLst/>
          </a:prstGeom>
          <a:noFill/>
          <a:ln w="25400">
            <a:solidFill>
              <a:srgbClr val="DCD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3172968"/>
            <a:ext cx="164592" cy="164592"/>
          </a:xfrm>
          <a:prstGeom prst="ellipse">
            <a:avLst/>
          </a:prstGeom>
          <a:solidFill>
            <a:srgbClr val="7B3F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88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MÉDIA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82880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24h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" y="39227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suaviza o sinal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300984" y="3172968"/>
            <a:ext cx="164592" cy="164592"/>
          </a:xfrm>
          <a:prstGeom prst="ellipse">
            <a:avLst/>
          </a:prstGeom>
          <a:solidFill>
            <a:srgbClr val="7B3F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688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BLOCO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43200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~12s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70048" y="39227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novo estado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15584" y="3172968"/>
            <a:ext cx="164592" cy="164592"/>
          </a:xfrm>
          <a:prstGeom prst="ellipse">
            <a:avLst/>
          </a:prstGeom>
          <a:solidFill>
            <a:srgbClr val="7B3F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688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PICO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257800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+12,5%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84648" y="39227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ajuste possível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330184" y="3172968"/>
            <a:ext cx="164592" cy="164592"/>
          </a:xfrm>
          <a:prstGeom prst="ellipse">
            <a:avLst/>
          </a:prstGeom>
          <a:solidFill>
            <a:srgbClr val="00A4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688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ORDEM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772400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agora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99248" y="39227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decisão real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0890504" y="3172968"/>
            <a:ext cx="164592" cy="164592"/>
          </a:xfrm>
          <a:prstGeom prst="ellipse">
            <a:avLst/>
          </a:prstGeom>
          <a:solidFill>
            <a:srgbClr val="DB48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2688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B48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CUSTO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332720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assimétrico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59568" y="39227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errar custa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77240" y="4773168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047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pergunta muda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80360" y="4965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95909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“quanto custou?”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138928" y="5138928"/>
            <a:ext cx="822960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217920" y="492861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“quanto custa agora — e vale executar?”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NEGÓCIO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ENCAIXE ESTRATÉGICO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Mais densidade de valor para uma plataforma que já tem escala.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módulo complementa a Alphractal: usa a cobertura existente e adiciona a camada operacional que ainda falta.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17627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76272"/>
            <a:ext cx="50292" cy="1024128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1.500+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métricas na plataforma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9900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on-chain • macro • mercado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64408" y="217627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2176272"/>
            <a:ext cx="50292" cy="1024128"/>
          </a:xfrm>
          <a:prstGeom prst="rect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1.000+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47288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endpoints documentados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29900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base pronta para integrar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61888" y="217627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1888" y="2176272"/>
            <a:ext cx="50292" cy="1024128"/>
          </a:xfrm>
          <a:prstGeom prst="rect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1–5 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44768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cadência institucional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4768" y="29900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linha de base do produto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659368" y="217627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9368" y="2176272"/>
            <a:ext cx="50292" cy="1024128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42248" y="2331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~12 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42248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cadência do módulo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42248" y="29900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até 25× mais frequente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66928" y="3593592"/>
            <a:ext cx="52578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385876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EEEAF2"/>
          </a:solidFill>
          <a:ln w="12700">
            <a:solidFill>
              <a:srgbClr val="EEE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918204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706B7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JÁ EXISTE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841248" y="4315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FeeMean / FeeMed / FeeTot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" y="48006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Agregados históricos, preço em moeda nativa e USD, alertas e dashboards.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53328" y="3593592"/>
            <a:ext cx="5120640" cy="1901952"/>
          </a:xfrm>
          <a:prstGeom prst="roundRect">
            <a:avLst>
              <a:gd name="adj" fmla="val 3846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3858768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35264B"/>
          </a:solidFill>
          <a:ln w="12700">
            <a:solidFill>
              <a:srgbClr val="3526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918204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CAGIMADU ADICIONA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6327648" y="4315968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Fee recomendada + pressão + custo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327648" y="480060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C0D3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Uma leitura acionável do próximo movimento — pronta para alimentar o ecossistema de alertas existente.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PRODUTO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 SOLUÇÃO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Quatro capacidades, uma decisão mais clara.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MVP organiza a complexidade da rede em camadas progressivas: ver, entender, estimar e agir.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487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5528" y="2944368"/>
            <a:ext cx="548640" cy="548640"/>
          </a:xfrm>
          <a:prstGeom prst="ellipse">
            <a:avLst/>
          </a:prstGeom>
          <a:solidFill>
            <a:srgbClr val="7B3FF2">
              <a:alpha val="14000"/>
            </a:srgbClr>
          </a:solidFill>
          <a:ln w="12700">
            <a:solidFill>
              <a:srgbClr val="7B3FF2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3099816"/>
            <a:ext cx="237744" cy="237744"/>
          </a:xfrm>
          <a:prstGeom prst="cub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813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Explorar blocos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" y="4370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Fee, ocupação, transações, validador e pressão por bloco.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46704" y="2212848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2487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75304" y="2944368"/>
            <a:ext cx="548640" cy="548640"/>
          </a:xfrm>
          <a:prstGeom prst="ellipse">
            <a:avLst/>
          </a:prstGeom>
          <a:solidFill>
            <a:srgbClr val="00A47A">
              <a:alpha val="14000"/>
            </a:srgbClr>
          </a:solidFill>
          <a:ln w="12700">
            <a:solidFill>
              <a:srgbClr val="00A47A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3099816"/>
            <a:ext cx="237744" cy="237744"/>
          </a:xfrm>
          <a:prstGeom prst="lineInv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3813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Monitorar fees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75304" y="4370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 recomendada, decomposição e histórico recente.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2212848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487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5080" y="2944368"/>
            <a:ext cx="548640" cy="548640"/>
          </a:xfrm>
          <a:prstGeom prst="ellipse">
            <a:avLst/>
          </a:prstGeom>
          <a:solidFill>
            <a:srgbClr val="C87919">
              <a:alpha val="14000"/>
            </a:srgbClr>
          </a:solidFill>
          <a:ln w="12700">
            <a:solidFill>
              <a:srgbClr val="C8791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3099816"/>
            <a:ext cx="237744" cy="237744"/>
          </a:xfrm>
          <a:prstGeom prst="lightningBolt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813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Simular operações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4370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Custo estimado de transferência, swap e mint de NFT.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06256" y="2212848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4856" y="2487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34856" y="2944368"/>
            <a:ext cx="548640" cy="548640"/>
          </a:xfrm>
          <a:prstGeom prst="ellipse">
            <a:avLst/>
          </a:prstGeom>
          <a:solidFill>
            <a:srgbClr val="A87EFF">
              <a:alpha val="14000"/>
            </a:srgbClr>
          </a:solidFill>
          <a:ln w="12700">
            <a:solidFill>
              <a:srgbClr val="A87EF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90304" y="3099816"/>
            <a:ext cx="237744" cy="237744"/>
          </a:xfrm>
          <a:prstGeom prst="diamond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4856" y="3813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Contextualizar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34856" y="43708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0D3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Sinais de rede traduzidos em linguagem operacional.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ARQUITETURA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FLUXO PONTA A PONTA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Da Mainnet ao insight, com contratos claros entre as camadas.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separação em serviços, controllers e cliente HTTP mantém a regra de negócio fora da interface e facilita a evolução.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1A1423"/>
          </a:solidFill>
          <a:ln w="10160">
            <a:solidFill>
              <a:srgbClr val="3B2D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377440"/>
            <a:ext cx="50292" cy="2331720"/>
          </a:xfrm>
          <a:prstGeom prst="rect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542032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FONTE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667512" y="277063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Ethereum Mainnet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7512" y="3136392"/>
            <a:ext cx="15270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DB4C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Blocos + eth_feeHistory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4C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via JSON-RPC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14016" y="3547872"/>
            <a:ext cx="402336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9504" y="237744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9504" y="2377440"/>
            <a:ext cx="50292" cy="2331720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2542032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ACESSO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054096" y="277063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Viem service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54096" y="3136392"/>
            <a:ext cx="15270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Consulta, normalização, cálculos e amostragem.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547872"/>
            <a:ext cx="402336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76088" y="237744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088" y="2377440"/>
            <a:ext cx="50292" cy="2331720"/>
          </a:xfrm>
          <a:prstGeom prst="rect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542032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PROTEÇÃO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440680" y="277063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Cache resiliente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40680" y="3136392"/>
            <a:ext cx="15270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TTL + deduplicação + último valor válido.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87184" y="3547872"/>
            <a:ext cx="402336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62672" y="237744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62672" y="2377440"/>
            <a:ext cx="50292" cy="2331720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27264" y="2542032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CONTRATO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7827264" y="277063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API REST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827264" y="3136392"/>
            <a:ext cx="15270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Zod → controller → envelope { data, meta }.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73768" y="3547872"/>
            <a:ext cx="402336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049256" y="2377440"/>
            <a:ext cx="1645920" cy="2331720"/>
          </a:xfrm>
          <a:prstGeom prst="roundRect">
            <a:avLst>
              <a:gd name="adj" fmla="val 4444"/>
            </a:avLst>
          </a:prstGeom>
          <a:solidFill>
            <a:srgbClr val="1A1423"/>
          </a:solidFill>
          <a:ln w="10160">
            <a:solidFill>
              <a:srgbClr val="3B2D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49256" y="2377440"/>
            <a:ext cx="50292" cy="2331720"/>
          </a:xfrm>
          <a:prstGeom prst="rect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13848" y="2542032"/>
            <a:ext cx="1344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EXPERIÊNCIA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0213848" y="277063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React + D3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0213848" y="3136392"/>
            <a:ext cx="134416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DB4C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Blocos, Fees e Mercado.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216152" y="5084064"/>
            <a:ext cx="9747504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528523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↓ feedback operacional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03320" y="523036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Atualização periódica  •  estado de cache visível  •  fallback identificado  •  erros estruturados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ENGENHARIA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STACK DO MVP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Escolhas enxutas para entregar rápido — sem perder separação de responsabilidades.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TypeScript atravessa todo o produto; cada tecnologia tem um papel simples e explícito.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FRONTEND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95528" y="3017520"/>
            <a:ext cx="91440" cy="91440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91693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React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" y="3575304"/>
            <a:ext cx="91440" cy="91440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47472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" y="4133088"/>
            <a:ext cx="91440" cy="91440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403250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" y="4690872"/>
            <a:ext cx="91440" cy="91440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459028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" y="5230368"/>
            <a:ext cx="2011680" cy="0"/>
          </a:xfrm>
          <a:prstGeom prst="line">
            <a:avLst/>
          </a:prstGeom>
          <a:noFill/>
          <a:ln w="10160">
            <a:solidFill>
              <a:srgbClr val="DCD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46704" y="224028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BACKEND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75304" y="3017520"/>
            <a:ext cx="91440" cy="9144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91693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Node.js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75304" y="3575304"/>
            <a:ext cx="91440" cy="9144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47472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Express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75304" y="4133088"/>
            <a:ext cx="91440" cy="9144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403250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75304" y="4690872"/>
            <a:ext cx="91440" cy="9144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459028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Viem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75304" y="5230368"/>
            <a:ext cx="2011680" cy="0"/>
          </a:xfrm>
          <a:prstGeom prst="line">
            <a:avLst/>
          </a:prstGeom>
          <a:noFill/>
          <a:ln w="10160">
            <a:solidFill>
              <a:srgbClr val="DCD8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24028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QUALIDADE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355080" y="3017520"/>
            <a:ext cx="91440" cy="91440"/>
          </a:xfrm>
          <a:prstGeom prst="ellipse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291693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Zod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3575304"/>
            <a:ext cx="91440" cy="91440"/>
          </a:xfrm>
          <a:prstGeom prst="ellipse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347472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Vitest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5080" y="4133088"/>
            <a:ext cx="91440" cy="91440"/>
          </a:xfrm>
          <a:prstGeom prst="ellipse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403250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Supertest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4690872"/>
            <a:ext cx="91440" cy="91440"/>
          </a:xfrm>
          <a:prstGeom prst="ellipse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459028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ESLint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5230368"/>
            <a:ext cx="2011680" cy="0"/>
          </a:xfrm>
          <a:prstGeom prst="line">
            <a:avLst/>
          </a:prstGeom>
          <a:noFill/>
          <a:ln w="10160">
            <a:solidFill>
              <a:srgbClr val="DCD8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06256" y="224028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34856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OPERAÇÃO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134856" y="3017520"/>
            <a:ext cx="91440" cy="91440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54312" y="291693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Render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134856" y="3575304"/>
            <a:ext cx="91440" cy="91440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54312" y="347472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PublicNode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134856" y="4133088"/>
            <a:ext cx="91440" cy="91440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54312" y="403250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Cache RAM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134856" y="4690872"/>
            <a:ext cx="91440" cy="91440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54312" y="459028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MIT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134856" y="5230368"/>
            <a:ext cx="2011680" cy="0"/>
          </a:xfrm>
          <a:prstGeom prst="line">
            <a:avLst/>
          </a:prstGeom>
          <a:noFill/>
          <a:ln w="10160">
            <a:solidFill>
              <a:srgbClr val="DCD8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5769864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Princípio: trocar provider, rede ou camada de entrega sem reescrever a experiência.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API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CONTRATO DE INTEGRAÇÃO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Quatro endpoints para ler blocos e custos de execução.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Validação de entrada via Zod, respostas consistentes e metadados que tornam cache e obsolescência observáveis.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21992"/>
            <a:ext cx="5715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368296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42773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GET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1444752" y="23591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/api/blocks?limit=40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81728" y="236829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blocos recentes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944368"/>
            <a:ext cx="5715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3090672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1501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GET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1444752" y="30815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/api/blocks/:number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1728" y="30906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detalhe do bloco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666744"/>
            <a:ext cx="5715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" y="3813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6F7F2"/>
          </a:solidFill>
          <a:ln w="12700">
            <a:solidFill>
              <a:srgbClr val="E6F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8724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GET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444752" y="38039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/api/fees/current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1728" y="381304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 recomendada agora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4389120"/>
            <a:ext cx="5715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" y="4535424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FFF1DE"/>
          </a:solidFill>
          <a:ln w="12700">
            <a:solidFill>
              <a:srgbClr val="FFF1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45948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GET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1444752" y="4526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/api/fees/history?blocks=300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1728" y="45354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série histórica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37960" y="2221992"/>
            <a:ext cx="5084064" cy="3447288"/>
          </a:xfrm>
          <a:prstGeom prst="roundRect">
            <a:avLst>
              <a:gd name="adj" fmla="val 2122"/>
            </a:avLst>
          </a:prstGeom>
          <a:solidFill>
            <a:srgbClr val="0E0B14"/>
          </a:solidFill>
          <a:ln w="10160">
            <a:solidFill>
              <a:srgbClr val="0E0B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25146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RESPONSE ENVELOPE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830568" y="2944368"/>
            <a:ext cx="416052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A2B4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
</a:t>
            </a:r>
            <a:pPr indent="0" marL="0">
              <a:buNone/>
            </a:pPr>
            <a:r>
              <a:rPr lang="en-US" sz="1150" b="1" dirty="0">
                <a:solidFill>
                  <a:srgbClr val="C8A9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"data"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: { ... },
</a:t>
            </a:r>
            <a:pPr indent="0" marL="0">
              <a:buNone/>
            </a:pPr>
            <a:r>
              <a:rPr lang="en-US" sz="1150" b="1" dirty="0">
                <a:solidFill>
                  <a:srgbClr val="8DE4C7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"meta"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: {
</a:t>
            </a:r>
            <a:pPr indent="0" marL="0">
              <a:buNone/>
            </a:pPr>
            <a:r>
              <a:rPr lang="en-US" sz="1150" dirty="0">
                <a:solidFill>
                  <a:srgbClr val="C9C0D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"source": "ethereum-rpc",
    "cached": false,
    "stale": false,
    "updatedAt": "..."
</a:t>
            </a:r>
            <a:pPr indent="0" marL="0">
              <a:buNone/>
            </a:pPr>
            <a:r>
              <a:rPr lang="en-US" sz="1150" dirty="0">
                <a:solidFill>
                  <a:srgbClr val="A9A2B4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9A2B4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30568" y="50749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9C0D3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envelope preserva contexto operacional; uma camada adaptadora alinha o formato ao padrão da Alphractal.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REGRAS DE NEGÓCIO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 DADO BRUTO AO INSIGHT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Cálculos simples, transparentes e auditáveis.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valor do módulo está menos em “prever” e mais em tornar explícito como cada número vira uma decisão.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3703320" cy="3337560"/>
          </a:xfrm>
          <a:prstGeom prst="roundRect">
            <a:avLst>
              <a:gd name="adj" fmla="val 2192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523744"/>
            <a:ext cx="1298448" cy="256032"/>
          </a:xfrm>
          <a:prstGeom prst="roundRect">
            <a:avLst>
              <a:gd name="adj" fmla="val 28571"/>
            </a:avLst>
          </a:prstGeom>
          <a:solidFill>
            <a:srgbClr val="35264B"/>
          </a:solidFill>
          <a:ln w="12700">
            <a:solidFill>
              <a:srgbClr val="3526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83180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FEE RECOMENDADA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base fee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+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priority fee p50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25880" y="4087368"/>
            <a:ext cx="2148840" cy="0"/>
          </a:xfrm>
          <a:prstGeom prst="line">
            <a:avLst/>
          </a:prstGeom>
          <a:noFill/>
          <a:ln w="19050">
            <a:solidFill>
              <a:srgbClr val="A8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344" y="4754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Gwei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8848" y="2212848"/>
            <a:ext cx="33192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5237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Custo da operação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97180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fee × gas × 10⁻⁹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73168" y="336499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resultado em ETH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98848" y="3995928"/>
            <a:ext cx="33192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4315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Pressão da rede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473659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ocupação + fee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73168" y="515721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Baixa  •  Moderada  •  Alta  •  Crítica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046720" y="2212848"/>
            <a:ext cx="357530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5237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Um exemplo real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29992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0" y="298094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0,2040 Gwei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310128"/>
            <a:ext cx="2852928" cy="0"/>
          </a:xfrm>
          <a:prstGeom prst="line">
            <a:avLst/>
          </a:prstGeom>
          <a:noFill/>
          <a:ln w="7620">
            <a:solidFill>
              <a:srgbClr val="DCD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5295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Transferência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0" y="351129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0,00000428 ETH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3840480"/>
            <a:ext cx="2852928" cy="0"/>
          </a:xfrm>
          <a:prstGeom prst="line">
            <a:avLst/>
          </a:prstGeom>
          <a:noFill/>
          <a:ln w="7620">
            <a:solidFill>
              <a:srgbClr val="DCD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0599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Swap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18320" y="404164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0,00003060 ETH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21040" y="4370832"/>
            <a:ext cx="2852928" cy="0"/>
          </a:xfrm>
          <a:prstGeom prst="line">
            <a:avLst/>
          </a:prstGeom>
          <a:noFill/>
          <a:ln w="7620">
            <a:solidFill>
              <a:srgbClr val="DCD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Mint NFT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457200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0,00002040 ETH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21040" y="512064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E6F7F2"/>
          </a:solidFill>
          <a:ln w="12700">
            <a:solidFill>
              <a:srgbClr val="E6F7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5180076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ARITMÉTICA VALIDADA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CONFIABILIDADE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RESILIÊNCIA POR DESENHO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Falhar com contexto é melhor do que falhar em silêncio.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experiência distingue dados frescos, cacheados, obsoletos e demonstrativos — mantendo transparência com o usuário.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" y="25146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2514600"/>
            <a:ext cx="50292" cy="2011680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79192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ENTRADA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Requisição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273552"/>
            <a:ext cx="1691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Frontend pede blocos ou fees.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88336" y="3520440"/>
            <a:ext cx="438912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00400" y="25146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514600"/>
            <a:ext cx="50292" cy="2011680"/>
          </a:xfrm>
          <a:prstGeom prst="rect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2679192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DECISÃO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64992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Cache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64992" y="3273552"/>
            <a:ext cx="1691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Fresco? responde.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Em voo? compartilha.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76088" y="3520440"/>
            <a:ext cx="438912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88152" y="25146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88152" y="2514600"/>
            <a:ext cx="50292" cy="2011680"/>
          </a:xfrm>
          <a:prstGeom prst="rect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52744" y="2679192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ORIGEM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52744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Provider RPC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52744" y="3273552"/>
            <a:ext cx="1691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Consulta a Mainnet com timeout.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3520440"/>
            <a:ext cx="438912" cy="0"/>
          </a:xfrm>
          <a:prstGeom prst="line">
            <a:avLst/>
          </a:prstGeom>
          <a:noFill/>
          <a:ln w="19050">
            <a:solidFill>
              <a:srgbClr val="7B3FF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75904" y="251460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1A1423"/>
          </a:solidFill>
          <a:ln w="10160">
            <a:solidFill>
              <a:srgbClr val="3B2D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2514600"/>
            <a:ext cx="50292" cy="2011680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0496" y="2679192"/>
            <a:ext cx="2852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SAÍDA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8540496" y="29077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Resposta consciente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540496" y="3273552"/>
            <a:ext cx="2852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DB4C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fresh → cached → stale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B4C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sem histórico → demo identificado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" y="50749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FE8FF"/>
          </a:solidFill>
          <a:ln w="10160">
            <a:solidFill>
              <a:srgbClr val="EFE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6424" y="526694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TTL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1691640" y="523951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10–12 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0" y="50749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E6F7F2"/>
          </a:solidFill>
          <a:ln w="10160">
            <a:solidFill>
              <a:srgbClr val="E6F7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03904" y="526694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DEDUP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4389120" y="523951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1 consulta concorrente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55080" y="50749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1DE"/>
          </a:solidFill>
          <a:ln w="10160">
            <a:solidFill>
              <a:srgbClr val="FFF1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1384" y="526694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STALE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7086600" y="523951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último valor válido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052560" y="50749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DE9ED"/>
          </a:solidFill>
          <a:ln w="10160">
            <a:solidFill>
              <a:srgbClr val="FDE9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98864" y="526694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DB48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ERROR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9784080" y="523951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contrato estruturado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DOCUMENTAÇÃO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CONHECIMENTO QUE FICA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código entrega o MVP. A documentação reduz o custo da próxima decisão.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Negócio, arquitetura, validação e rastreabilidade foram organizados como um conjunto conectado — não como anexos isolados.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21992"/>
            <a:ext cx="757123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597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2377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Análise de negócios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84448" y="235000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Mercado, personas, proposta de valor, canvas, SWOT, KPIs, riscos e viabilidade.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84448" y="2761488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docs/analise-de-negocios.md</a:t>
            </a:r>
            <a:endParaRPr lang="en-US" sz="580" dirty="0"/>
          </a:p>
        </p:txBody>
      </p:sp>
      <p:sp>
        <p:nvSpPr>
          <p:cNvPr id="13" name="Shape 11"/>
          <p:cNvSpPr/>
          <p:nvPr/>
        </p:nvSpPr>
        <p:spPr>
          <a:xfrm>
            <a:off x="566928" y="3319272"/>
            <a:ext cx="757123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5570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3474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Documentação técnica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84448" y="344728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Arquitetura, camadas, regras, contratos, cache, frontend e pontos de extensão.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84448" y="3858768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docs/documentacao-tecnica.md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566928" y="4416552"/>
            <a:ext cx="757123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6542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25880" y="4572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Validação técnica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84448" y="454456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Build, lint, testes, endpoints reais, cálculos independentes e lacunas do TAP.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84448" y="4956048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docs/validacao/relatorio-de-validacao-tecnica.md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8394192" y="2221992"/>
            <a:ext cx="3227832" cy="3072384"/>
          </a:xfrm>
          <a:prstGeom prst="roundRect">
            <a:avLst>
              <a:gd name="adj" fmla="val 2381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9952" y="26974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33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759952" y="34290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cláusulas do TAP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mapeadas até a evidência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42832" y="4325112"/>
            <a:ext cx="2148840" cy="0"/>
          </a:xfrm>
          <a:prstGeom prst="line">
            <a:avLst/>
          </a:prstGeom>
          <a:noFill/>
          <a:ln w="12700">
            <a:solidFill>
              <a:srgbClr val="4938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decisão → requisito → código → teste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EVIDÊNCIAS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MVP VALIDADO DE PONTA A PONTA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Funciona, calcula corretamente e degrada com transparência.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Execução real contra a Ethereum Mainnet em 01/09/2026, complementada por testes automatizados e inspeção arquitetural.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2199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21992"/>
            <a:ext cx="50292" cy="1024128"/>
          </a:xfrm>
          <a:prstGeom prst="rect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11 / 11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" y="2798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testes automatizados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03580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Vitest + Supertest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64408" y="222199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2221992"/>
            <a:ext cx="50292" cy="1024128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47288" y="2798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endpoints de dados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303580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todos exercitados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61888" y="222199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1888" y="2221992"/>
            <a:ext cx="50292" cy="1024128"/>
          </a:xfrm>
          <a:prstGeom prst="rect">
            <a:avLst/>
          </a:prstGeom>
          <a:solidFill>
            <a:srgbClr val="C87919"/>
          </a:solidFill>
          <a:ln w="12700">
            <a:solidFill>
              <a:srgbClr val="C879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79 kB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44768" y="2798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bundle JS gzip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4768" y="303580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React + D3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659368" y="2221992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9368" y="2221992"/>
            <a:ext cx="50292" cy="1024128"/>
          </a:xfrm>
          <a:prstGeom prst="rect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42248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R$ 0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42248" y="2798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infra do MVP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42248" y="303580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plano gratuito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66928" y="3584448"/>
            <a:ext cx="6995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86791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que foi comprovado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9536" y="4407408"/>
            <a:ext cx="137160" cy="13716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343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build e lint sem erros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05656" y="4407408"/>
            <a:ext cx="137160" cy="13716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4343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dados reais da Mainnet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9536" y="4846320"/>
            <a:ext cx="137160" cy="13716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47823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cálculos conferidos de forma independente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05656" y="4846320"/>
            <a:ext cx="137160" cy="137160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25112" y="47823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cache, stale e erros estruturados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18120" y="3584448"/>
            <a:ext cx="3813048" cy="1874520"/>
          </a:xfrm>
          <a:prstGeom prst="roundRect">
            <a:avLst>
              <a:gd name="adj" fmla="val 3902"/>
            </a:avLst>
          </a:prstGeom>
          <a:solidFill>
            <a:srgbClr val="FFF1DE"/>
          </a:solidFill>
          <a:ln w="10160">
            <a:solidFill>
              <a:srgbClr val="FFF1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19872" y="38770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Pronto para produção?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19872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8791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Ainda não — e isso está documentado.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19872" y="4736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Faltam versões fixadas, rate limit, observabilidade, USD e streaming.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PRODUTO AO VIVO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828800" y="457200"/>
            <a:ext cx="10104120" cy="5687568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2700">
            <a:solidFill>
              <a:srgbClr val="CFCAD9"/>
            </a:solidFill>
            <a:prstDash val="solid"/>
          </a:ln>
          <a:effectLst>
            <a:outerShdw sx="100000" sy="100000" kx="0" ky="0" algn="bl" rotWithShape="0" blurRad="38100" dist="50800" dir="2700000">
              <a:srgbClr val="8E849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65376" y="493776"/>
            <a:ext cx="10030968" cy="310896"/>
          </a:xfrm>
          <a:prstGeom prst="roundRect">
            <a:avLst>
              <a:gd name="adj" fmla="val 17647"/>
            </a:avLst>
          </a:prstGeom>
          <a:solidFill>
            <a:srgbClr val="F2F0F6"/>
          </a:solidFill>
          <a:ln w="12700">
            <a:solidFill>
              <a:srgbClr val="F2F0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594360"/>
            <a:ext cx="64008" cy="64008"/>
          </a:xfrm>
          <a:prstGeom prst="ellipse">
            <a:avLst/>
          </a:prstGeom>
          <a:solidFill>
            <a:srgbClr val="DB4863"/>
          </a:solidFill>
          <a:ln w="12700">
            <a:solidFill>
              <a:srgbClr val="DB48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1408" y="594360"/>
            <a:ext cx="64008" cy="64008"/>
          </a:xfrm>
          <a:prstGeom prst="ellipse">
            <a:avLst/>
          </a:prstGeom>
          <a:solidFill>
            <a:srgbClr val="E2A33A"/>
          </a:solidFill>
          <a:ln w="12700">
            <a:solidFill>
              <a:srgbClr val="E2A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594360"/>
            <a:ext cx="64008" cy="64008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562356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706B7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cagimadu / blocos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10744200" y="525780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E6F7F2"/>
          </a:solidFill>
          <a:ln w="12700">
            <a:solidFill>
              <a:srgbClr val="E6F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5852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MAINNET LIVE</a:t>
            </a:r>
            <a:endParaRPr lang="en-US" sz="620" dirty="0"/>
          </a:p>
        </p:txBody>
      </p:sp>
      <p:pic>
        <p:nvPicPr>
          <p:cNvPr id="13" name="Image 0" descr="/home/inteli/faculdade/blockas/cagimadu/artifacts/presentation/screenshots/blocos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822960"/>
            <a:ext cx="10030968" cy="52852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84048" y="950976"/>
            <a:ext cx="2331720" cy="4526280"/>
          </a:xfrm>
          <a:prstGeom prst="roundRect">
            <a:avLst>
              <a:gd name="adj" fmla="val 3137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1280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368" y="16642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Explorador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de blocos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C0D3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Uma visão operacional do que acabou de acontecer na rede.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" y="3657600"/>
            <a:ext cx="82296" cy="8229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35753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 por bloco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8368" y="4005072"/>
            <a:ext cx="82296" cy="8229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392277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ocupação e pressão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8368" y="4352544"/>
            <a:ext cx="82296" cy="8229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42702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transações e validador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8368" y="4700016"/>
            <a:ext cx="82296" cy="82296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" y="46177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atualização ao vivo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" y="497433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33772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MAINNET REAL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PRODUTO AO VIVO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828800" y="457200"/>
            <a:ext cx="10104120" cy="5687568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2700">
            <a:solidFill>
              <a:srgbClr val="CFCAD9"/>
            </a:solidFill>
            <a:prstDash val="solid"/>
          </a:ln>
          <a:effectLst>
            <a:outerShdw sx="100000" sy="100000" kx="0" ky="0" algn="bl" rotWithShape="0" blurRad="38100" dist="50800" dir="2700000">
              <a:srgbClr val="8E849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65376" y="493776"/>
            <a:ext cx="10030968" cy="310896"/>
          </a:xfrm>
          <a:prstGeom prst="roundRect">
            <a:avLst>
              <a:gd name="adj" fmla="val 17647"/>
            </a:avLst>
          </a:prstGeom>
          <a:solidFill>
            <a:srgbClr val="F2F0F6"/>
          </a:solidFill>
          <a:ln w="12700">
            <a:solidFill>
              <a:srgbClr val="F2F0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594360"/>
            <a:ext cx="64008" cy="64008"/>
          </a:xfrm>
          <a:prstGeom prst="ellipse">
            <a:avLst/>
          </a:prstGeom>
          <a:solidFill>
            <a:srgbClr val="DB4863"/>
          </a:solidFill>
          <a:ln w="12700">
            <a:solidFill>
              <a:srgbClr val="DB48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1408" y="594360"/>
            <a:ext cx="64008" cy="64008"/>
          </a:xfrm>
          <a:prstGeom prst="ellipse">
            <a:avLst/>
          </a:prstGeom>
          <a:solidFill>
            <a:srgbClr val="E2A33A"/>
          </a:solidFill>
          <a:ln w="12700">
            <a:solidFill>
              <a:srgbClr val="E2A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594360"/>
            <a:ext cx="64008" cy="64008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562356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706B7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cagimadu / fees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10744200" y="525780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E6F7F2"/>
          </a:solidFill>
          <a:ln w="12700">
            <a:solidFill>
              <a:srgbClr val="E6F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5852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MAINNET LIVE</a:t>
            </a:r>
            <a:endParaRPr lang="en-US" sz="620" dirty="0"/>
          </a:p>
        </p:txBody>
      </p:sp>
      <p:pic>
        <p:nvPicPr>
          <p:cNvPr id="13" name="Image 0" descr="/home/inteli/faculdade/blockas/cagimadu/artifacts/presentation/screenshots/fees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822960"/>
            <a:ext cx="10030968" cy="52852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84048" y="950976"/>
            <a:ext cx="2331720" cy="4526280"/>
          </a:xfrm>
          <a:prstGeom prst="roundRect">
            <a:avLst>
              <a:gd name="adj" fmla="val 3137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1280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368" y="16642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monitor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C0D3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Do número isolado à decisão de custo por operação.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" y="3657600"/>
            <a:ext cx="82296" cy="82296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35753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 recomendada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8368" y="4005072"/>
            <a:ext cx="82296" cy="8229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392277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histórico de 300 blocos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8368" y="4352544"/>
            <a:ext cx="82296" cy="8229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42702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volatilidade visível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8368" y="4700016"/>
            <a:ext cx="82296" cy="82296"/>
          </a:xfrm>
          <a:prstGeom prst="ellipse">
            <a:avLst/>
          </a:prstGeom>
          <a:solidFill>
            <a:srgbClr val="A87EFF"/>
          </a:solidFill>
          <a:ln w="12700">
            <a:solidFill>
              <a:srgbClr val="A87E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" y="46177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estimativa por operação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" y="497433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16382F"/>
          </a:solidFill>
          <a:ln w="12700">
            <a:solidFill>
              <a:srgbClr val="1638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33772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MAINNET REAL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DIREÇÃO DE PRODUTO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828800" y="457200"/>
            <a:ext cx="10104120" cy="5687568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2700">
            <a:solidFill>
              <a:srgbClr val="CFCAD9"/>
            </a:solidFill>
            <a:prstDash val="solid"/>
          </a:ln>
          <a:effectLst>
            <a:outerShdw sx="100000" sy="100000" kx="0" ky="0" algn="bl" rotWithShape="0" blurRad="38100" dist="50800" dir="2700000">
              <a:srgbClr val="8E849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65376" y="493776"/>
            <a:ext cx="10030968" cy="310896"/>
          </a:xfrm>
          <a:prstGeom prst="roundRect">
            <a:avLst>
              <a:gd name="adj" fmla="val 17647"/>
            </a:avLst>
          </a:prstGeom>
          <a:solidFill>
            <a:srgbClr val="F2F0F6"/>
          </a:solidFill>
          <a:ln w="12700">
            <a:solidFill>
              <a:srgbClr val="F2F0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594360"/>
            <a:ext cx="64008" cy="64008"/>
          </a:xfrm>
          <a:prstGeom prst="ellipse">
            <a:avLst/>
          </a:prstGeom>
          <a:solidFill>
            <a:srgbClr val="DB4863"/>
          </a:solidFill>
          <a:ln w="12700">
            <a:solidFill>
              <a:srgbClr val="DB48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1408" y="594360"/>
            <a:ext cx="64008" cy="64008"/>
          </a:xfrm>
          <a:prstGeom prst="ellipse">
            <a:avLst/>
          </a:prstGeom>
          <a:solidFill>
            <a:srgbClr val="E2A33A"/>
          </a:solidFill>
          <a:ln w="12700">
            <a:solidFill>
              <a:srgbClr val="E2A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594360"/>
            <a:ext cx="64008" cy="64008"/>
          </a:xfrm>
          <a:prstGeom prst="ellipse">
            <a:avLst/>
          </a:prstGeom>
          <a:solidFill>
            <a:srgbClr val="00A47A"/>
          </a:solidFill>
          <a:ln w="12700">
            <a:solidFill>
              <a:srgbClr val="00A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562356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706B7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cagimadu / análise de mercado</a:t>
            </a:r>
            <a:endParaRPr lang="en-US" sz="580" dirty="0"/>
          </a:p>
        </p:txBody>
      </p:sp>
      <p:pic>
        <p:nvPicPr>
          <p:cNvPr id="11" name="Image 0" descr="/home/inteli/faculdade/blockas/cagimadu/artifacts/presentation/screenshots/merc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822960"/>
            <a:ext cx="10030968" cy="52852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4048" y="950976"/>
            <a:ext cx="2331720" cy="4526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280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8368" y="16642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Contexto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de mercado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8368" y="269748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linguagem visual já antecipa como fees podem conversar com inteligência de mercado.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8368" y="3657600"/>
            <a:ext cx="82296" cy="82296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35753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brief editorial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" y="4005072"/>
            <a:ext cx="82296" cy="82296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392277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snapshot de rede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8368" y="4352544"/>
            <a:ext cx="82296" cy="82296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42702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fee pulse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8368" y="4700016"/>
            <a:ext cx="82296" cy="82296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46177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insight acionável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30936" y="4956048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FFF1DE"/>
          </a:solidFill>
          <a:ln w="12700">
            <a:solidFill>
              <a:srgbClr val="FFF1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" y="5015484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spc="70" kern="0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DADOS DEMONSTRATIVOS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1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PRÓXIMOS PASSOS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38912" y="566928"/>
            <a:ext cx="50292" cy="502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20272" y="2926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5909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 MVP À INTEGRAÇÃO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 próxima versão deve capturar valor antes de adicionar complexidade.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154533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O roadmap prioriza ganhos quase gratuitos, depois compatibilidade comercial e, por fim, a arquitetura de streaming prevista no TAP.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615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B48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8096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Fixar versões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8096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DB48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minutos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68096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build reproduzível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9464" y="3529584"/>
            <a:ext cx="237744" cy="0"/>
          </a:xfrm>
          <a:prstGeom prst="line">
            <a:avLst/>
          </a:prstGeom>
          <a:noFill/>
          <a:ln w="19050">
            <a:solidFill>
              <a:srgbClr val="DCD8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2331720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2615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35808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Próximo bloco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35808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0A47A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≈ zero esforço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035808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usar base fee já recebida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37176" y="3529584"/>
            <a:ext cx="237744" cy="0"/>
          </a:xfrm>
          <a:prstGeom prst="line">
            <a:avLst/>
          </a:prstGeom>
          <a:noFill/>
          <a:ln w="19050">
            <a:solidFill>
              <a:srgbClr val="DCD8E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02352" y="2331720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615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03520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Conversão USD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03520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7B3FF2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baixo esforço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30352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seguir convenção Alphractal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04888" y="3529584"/>
            <a:ext cx="237744" cy="0"/>
          </a:xfrm>
          <a:prstGeom prst="line">
            <a:avLst/>
          </a:prstGeom>
          <a:noFill/>
          <a:ln w="19050">
            <a:solidFill>
              <a:srgbClr val="DCD8E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70064" y="2331720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D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2615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571232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31D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SSE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571232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C8791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médio esforço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571232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6B79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entrega contínua de fees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372600" y="3529584"/>
            <a:ext cx="237744" cy="0"/>
          </a:xfrm>
          <a:prstGeom prst="line">
            <a:avLst/>
          </a:prstGeom>
          <a:noFill/>
          <a:ln w="19050">
            <a:solidFill>
              <a:srgbClr val="DCD8E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37776" y="2331720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38944" y="2615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838944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WebSocket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838944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A87E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alto impacto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838944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0D3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ingestão eficiente + escala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6928" y="51023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11833"/>
          </a:solidFill>
          <a:ln w="10160">
            <a:solidFill>
              <a:srgbClr val="2118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312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Já provamos que funciona.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63240" y="5285232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CFDF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Agora o foco é encaixar no ecossistema da Alphractal e transformar telemetria em hábito operacional.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8A8494"/>
                </a:solidFill>
                <a:latin typeface="Noto Sans Mono"/>
                <a:ea typeface="Noto Sans Mono"/>
                <a:cs typeface="Noto Sans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bunt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bunt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Cagimadu / Alphractal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Cagimadu — Do dado on-chain à decisão operacional</dc:title>
  <dc:subject>MVP de monitoramento operacional de fees da Ethereum</dc:subject>
  <dc:creator>Equipe Cagimadu — Inteli Blockchain</dc:creator>
  <cp:lastModifiedBy>Equipe Cagimadu — Inteli Blockchain</cp:lastModifiedBy>
  <cp:revision>1</cp:revision>
  <dcterms:created xsi:type="dcterms:W3CDTF">2026-09-03T19:32:16Z</dcterms:created>
  <dcterms:modified xsi:type="dcterms:W3CDTF">2026-09-03T19:32:16Z</dcterms:modified>
</cp:coreProperties>
</file>